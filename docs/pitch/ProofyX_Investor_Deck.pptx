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15s. 'ProofyX answers one question: is this real? For any image, video or voice file, in seconds, with the evidence attached.' Do not explain the architecture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35s. Lead with the confidence gap on the right: people are sure they can tell, and they cannot. Then the money. Land on: this is already a booked loss line, not a future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30s. This is the slide that answers 'why now'. The EU date is fixed and close. Budget already exists on the other side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30s. The unique value proposition is the second half of the sentence: everyone can say fake or real. We say why, in a form that survives an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40s. If there is a laptop in the room, demo instead of showing this: upload one fake, land on the heatmap. 60 seconds, one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35s. Do not skip the last two rows. Volunteering the weak number is what makes the strong ones believable in diligence.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25s. The point is the CAGR plus the mandate on the previous slide. A 47.6% CAGR with a legal forcing function is rare.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25s. Be ready for 'how did you get to SOM' — it is 2-4% of SAM at year 5, and the assumptions are in the 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30s. Never say 'no competition'. Name the funded players first, then the one row where we differ. Expect a question on moat — answer with the explainability workflow and the modular retrain loop, not the model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20s. Investors want to know the land-and-expand path. Self-serve API is the wedge, enterprise licence is the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25s. Say the word 'projection' out loud. If asked for the model, the spreadsheet is in the data room — do not improvise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25s. Name the gap yourself. An investor who spots a missing hustler before you name it will discount everything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30s. Give the range, the runway and the milestones. Do not state a valuation from the stage; keep it a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10s. Close on the ask, not on 'thank you'. Placeholders on this slide MUST be replaced before the deck leaves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Appendix. Do not present unless asked. Hand this slide over when an investor questions a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1265910" cy="1188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164592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200" b="1">
                <a:solidFill>
                  <a:srgbClr val="FFF6ED"/>
                </a:solidFill>
                <a:latin typeface="Segoe UI"/>
              </a:rPr>
              <a:t>ProofyX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127248"/>
            <a:ext cx="6035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1000"/>
              </a:spcAft>
            </a:pPr>
            <a:r>
              <a:rPr sz="3000" b="1">
                <a:solidFill>
                  <a:srgbClr val="4FD1C5"/>
                </a:solidFill>
                <a:latin typeface="Segoe UI"/>
              </a:rPr>
              <a:t>Is this real?</a:t>
            </a:r>
          </a:p>
          <a:p>
            <a:pPr algn="l">
              <a:lnSpc>
                <a:spcPct val="134000"/>
              </a:lnSpc>
              <a:spcAft>
                <a:spcPts val="1000"/>
              </a:spcAft>
            </a:pPr>
            <a:r>
              <a:rPr sz="1700" b="0">
                <a:solidFill>
                  <a:srgbClr val="FFF6ED"/>
                </a:solidFill>
                <a:latin typeface="Segoe UI"/>
              </a:rPr>
              <a:t>ProofyX answers that in seconds — for any image, video or voice — and shows the evidence behind the answer.</a:t>
            </a:r>
          </a:p>
        </p:txBody>
      </p:sp>
      <p:pic>
        <p:nvPicPr>
          <p:cNvPr id="8" name="Picture 7" descr="pr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520440"/>
            <a:ext cx="5532120" cy="250736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5961888"/>
            <a:ext cx="1874519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>
                <a:solidFill>
                  <a:srgbClr val="FFF6ED"/>
                </a:solidFill>
                <a:latin typeface="Segoe UI"/>
              </a:rPr>
              <a:t>Investor Pitch Deck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78608" y="596188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FF6ED"/>
          </a:solidFill>
          <a:ln w="12700">
            <a:solidFill>
              <a:srgbClr val="FFF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>
                <a:solidFill>
                  <a:srgbClr val="0E042D"/>
                </a:solidFill>
                <a:latin typeface="Segoe UI"/>
              </a:rPr>
              <a:t>Seed Round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225296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01 /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Nobody can tell</a:t>
            </a:r>
            <a:r>
              <a:rPr sz="4000" b="1">
                <a:solidFill>
                  <a:srgbClr val="4FD1C5"/>
                </a:solidFill>
                <a:latin typeface="Segoe UI"/>
              </a:rPr>
              <a:t> what is real any more.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Synthetic media crossed the threshold where human review stops working — and the losses are already being booked.</a:t>
            </a:r>
          </a:p>
        </p:txBody>
      </p:sp>
      <p:pic>
        <p:nvPicPr>
          <p:cNvPr id="10" name="Picture 9" descr="fig_detection_g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548633"/>
            <a:ext cx="5257800" cy="235509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2304288"/>
            <a:ext cx="5532120" cy="1042415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FF4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6384" y="2304288"/>
            <a:ext cx="1572768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FF4D9D"/>
                </a:solidFill>
                <a:latin typeface="Segoe UI"/>
              </a:rPr>
              <a:t>8M+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304288"/>
            <a:ext cx="3557016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FFF6ED"/>
                </a:solidFill>
                <a:latin typeface="Segoe UI"/>
              </a:rPr>
              <a:t>Deepfake files in circulation in 2025,
up from 500K in 2023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56432"/>
            <a:ext cx="5532120" cy="1042415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FF4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86384" y="3456432"/>
            <a:ext cx="1572768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FF4D9D"/>
                </a:solidFill>
                <a:latin typeface="Segoe UI"/>
              </a:rPr>
              <a:t>$893M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3456432"/>
            <a:ext cx="3557016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FFF6ED"/>
                </a:solidFill>
                <a:latin typeface="Segoe UI"/>
              </a:rPr>
              <a:t>AI-enabled fraud losses logged by the FBI
in 2025, across 22,364 complaints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08576"/>
            <a:ext cx="5532120" cy="1042415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6384" y="4608576"/>
            <a:ext cx="1572768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FFB020"/>
                </a:solidFill>
                <a:latin typeface="Segoe UI"/>
              </a:rPr>
              <a:t>$280K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152" y="4608576"/>
            <a:ext cx="3557016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FFF6ED"/>
                </a:solidFill>
                <a:latin typeface="Segoe UI"/>
              </a:rPr>
              <a:t>Average loss per single
deepfake fraud incident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870448"/>
            <a:ext cx="5532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FFF6ED"/>
                </a:solidFill>
                <a:latin typeface="Segoe UI"/>
              </a:rPr>
              <a:t>Detection is now a compliance problem, not a curiosity. Banks, newsrooms and courts need an answer they can put in a file.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5358384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00" b="0">
                <a:solidFill>
                  <a:srgbClr val="A79EC4"/>
                </a:solidFill>
                <a:latin typeface="Segoe UI"/>
              </a:rPr>
              <a:t>iProov tested 2,000 UK and US consumers on real and fake media. Six in ten backed themselves; one in a thousand got every item right.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225296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02 / WHY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Detection just became</a:t>
            </a:r>
            <a:r>
              <a:rPr sz="4000" b="1">
                <a:solidFill>
                  <a:srgbClr val="4FD1C5"/>
                </a:solidFill>
                <a:latin typeface="Segoe UI"/>
              </a:rPr>
              <a:t> legally mandatory.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Regulation is converting deepfake detection from a nice-to-have into compulsory spend — on a clock we can name.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86000"/>
            <a:ext cx="2599867" cy="27889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04672" y="2468880"/>
            <a:ext cx="21243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8B6CFF"/>
                </a:solidFill>
                <a:latin typeface="Segoe UI"/>
              </a:rPr>
              <a:t>EU AI 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61488"/>
            <a:ext cx="212437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>
                <a:solidFill>
                  <a:srgbClr val="FFF6ED"/>
                </a:solidFill>
                <a:latin typeface="Segoe UI"/>
              </a:rPr>
              <a:t>Article 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419856"/>
            <a:ext cx="2124379" cy="1472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50" b="0">
                <a:solidFill>
                  <a:srgbClr val="A79EC4"/>
                </a:solidFill>
                <a:latin typeface="Segoe UI"/>
              </a:rPr>
              <a:t>From 2 August 2026, AI-generated content must be machine-readable and detectable. Article 99 penalties reach EUR 15M or 3% of global turnover.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6251" y="2286000"/>
            <a:ext cx="2599867" cy="27889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23995" y="2468880"/>
            <a:ext cx="21243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4CC9F0"/>
                </a:solidFill>
                <a:latin typeface="Segoe UI"/>
              </a:rPr>
              <a:t>UNITED STATES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3995" y="2761488"/>
            <a:ext cx="212437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>
                <a:solidFill>
                  <a:srgbClr val="FFF6ED"/>
                </a:solidFill>
                <a:latin typeface="Segoe UI"/>
              </a:rPr>
              <a:t>TAKE IT DOWN Act + 46 states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995" y="3419856"/>
            <a:ext cx="2124379" cy="1472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50" b="0">
                <a:solidFill>
                  <a:srgbClr val="A79EC4"/>
                </a:solidFill>
                <a:latin typeface="Segoe UI"/>
              </a:rPr>
              <a:t>Signed May 2025. 169 state deepfake laws since 2022, 146 bills in 2025 alone. FinCEN warned financial institutions in Q4 2025.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5575" y="2286000"/>
            <a:ext cx="2599867" cy="27889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43319" y="2468880"/>
            <a:ext cx="21243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4FD1C5"/>
                </a:solidFill>
                <a:latin typeface="Segoe UI"/>
              </a:rPr>
              <a:t>INDIA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3319" y="2761488"/>
            <a:ext cx="212437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>
                <a:solidFill>
                  <a:srgbClr val="FFF6ED"/>
                </a:solidFill>
                <a:latin typeface="Segoe UI"/>
              </a:rPr>
              <a:t>IT Rules amendment,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3419856"/>
            <a:ext cx="2124379" cy="1472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50" b="0">
                <a:solidFill>
                  <a:srgbClr val="A79EC4"/>
                </a:solidFill>
                <a:latin typeface="Segoe UI"/>
              </a:rPr>
              <a:t>Synthetic-media labelling and takedown duties for intermediaries — the market where our first design partners sit.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24899" y="2286000"/>
            <a:ext cx="2599867" cy="27889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262643" y="2468880"/>
            <a:ext cx="21243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FFB020"/>
                </a:solidFill>
                <a:latin typeface="Segoe UI"/>
              </a:rPr>
              <a:t>GLOBAL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643" y="2761488"/>
            <a:ext cx="212437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>
                <a:solidFill>
                  <a:srgbClr val="FFF6ED"/>
                </a:solidFill>
                <a:latin typeface="Segoe UI"/>
              </a:rPr>
              <a:t>China, South Korea, FATF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643" y="3419856"/>
            <a:ext cx="2124379" cy="1472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50" b="0">
                <a:solidFill>
                  <a:srgbClr val="A79EC4"/>
                </a:solidFill>
                <a:latin typeface="Segoe UI"/>
              </a:rPr>
              <a:t>FATF named deepfakes a direct threat to AML and customer due diligence. South Korea legislated after a 1,625% spike in deepfake fraud.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303520"/>
            <a:ext cx="11057839" cy="78638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778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41248" y="5504688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FFF6ED"/>
                </a:solidFill>
                <a:latin typeface="Segoe UI"/>
              </a:rPr>
              <a:t>The buyer no longer has to be convinced the problem is real — a regulator already told them. That changes the sales cycle from evangelism to procurement.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312164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03 /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One number, and</a:t>
            </a:r>
            <a:r>
              <a:rPr sz="4000" b="1">
                <a:solidFill>
                  <a:srgbClr val="4FD1C5"/>
                </a:solidFill>
                <a:latin typeface="Segoe UI"/>
              </a:rPr>
              <a:t> the reason behind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ProofyX returns a 0-100 Trust Score for any image, video or audio file — plus the heatmap and per-model evidence that produced it.</a:t>
            </a:r>
          </a:p>
        </p:txBody>
      </p:sp>
      <p:pic>
        <p:nvPicPr>
          <p:cNvPr id="10" name="Picture 9" descr="modality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285" y="4882896"/>
            <a:ext cx="6415125" cy="166420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2304288"/>
            <a:ext cx="3515258" cy="239572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4672" y="2487168"/>
            <a:ext cx="303977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4FD1C5"/>
                </a:solidFill>
                <a:latin typeface="Segoe UI"/>
              </a:rPr>
              <a:t>EVIDENCE, NOT A VERDICT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779776"/>
            <a:ext cx="30397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6ED"/>
                </a:solidFill>
                <a:latin typeface="Segoe UI"/>
              </a:rPr>
              <a:t>Explainable by construction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456432"/>
            <a:ext cx="3039770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50" b="0">
                <a:solidFill>
                  <a:srgbClr val="A79EC4"/>
                </a:solidFill>
                <a:latin typeface="Segoe UI"/>
              </a:rPr>
              <a:t>GradCAM heatmaps show which pixels drove the score, and every model in the ensemble reports separately. Competitors return a binary label; a compliance officer cannot file a binary label.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8218" y="2304288"/>
            <a:ext cx="3515258" cy="239572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75962" y="2487168"/>
            <a:ext cx="303977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4CC9F0"/>
                </a:solidFill>
                <a:latin typeface="Segoe UI"/>
              </a:rPr>
              <a:t>BREADTH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5962" y="2779776"/>
            <a:ext cx="30397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6ED"/>
                </a:solidFill>
                <a:latin typeface="Segoe UI"/>
              </a:rPr>
              <a:t>Image, video, audio and cross-modal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5962" y="3456432"/>
            <a:ext cx="3039770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50" b="0">
                <a:solidFill>
                  <a:srgbClr val="A79EC4"/>
                </a:solidFill>
                <a:latin typeface="Segoe UI"/>
              </a:rPr>
              <a:t>One API covers all three modalities and scores a video on its frames AND its soundtrack, surfacing disagreement between them rather than averaging it away.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9508" y="2304288"/>
            <a:ext cx="3515258" cy="239572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47252" y="2487168"/>
            <a:ext cx="303977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8B6CFF"/>
                </a:solidFill>
                <a:latin typeface="Segoe UI"/>
              </a:rPr>
              <a:t>DURABILITY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7252" y="2779776"/>
            <a:ext cx="30397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6ED"/>
                </a:solidFill>
                <a:latin typeface="Segoe UI"/>
              </a:rPr>
              <a:t>Modular against the arms race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7252" y="3456432"/>
            <a:ext cx="3039770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50" b="0">
                <a:solidFill>
                  <a:srgbClr val="A79EC4"/>
                </a:solidFill>
                <a:latin typeface="Segoe UI"/>
              </a:rPr>
              <a:t>Detection is a moving target. Models are swappable behind a stable scoring interface, so a new generator is a model update, not a rewrite.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225296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04 /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Upload. Score.</a:t>
            </a:r>
            <a:r>
              <a:rPr sz="4000" b="1">
                <a:solidFill>
                  <a:srgbClr val="4FD1C5"/>
                </a:solidFill>
                <a:latin typeface="Segoe UI"/>
              </a:rPr>
              <a:t> 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Live product: React dashboard, documented REST API, ten models loaded, running today on image, video and audio.</a:t>
            </a:r>
          </a:p>
        </p:txBody>
      </p:sp>
      <p:pic>
        <p:nvPicPr>
          <p:cNvPr id="10" name="Picture 9" descr="ui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4" y="2231136"/>
            <a:ext cx="5532120" cy="3063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089904" y="2231136"/>
            <a:ext cx="5532120" cy="3063240"/>
          </a:xfrm>
          <a:prstGeom prst="roundRect">
            <a:avLst>
              <a:gd name="adj" fmla="val 6000"/>
            </a:avLst>
          </a:prstGeom>
          <a:noFill/>
          <a:ln w="1778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089904" y="5376672"/>
            <a:ext cx="5532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Concept render of the analysis view. Replace with a live screenshot before pitching — the product is running.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231136"/>
            <a:ext cx="5303520" cy="713232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713232" y="2386584"/>
            <a:ext cx="40233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DDDD9"/>
              </a:gs>
              <a:gs pos="100000">
                <a:srgbClr val="4FD1C5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0E042D"/>
                </a:solidFill>
                <a:latin typeface="Segoe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2340864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FFF6ED"/>
                </a:solidFill>
                <a:latin typeface="Segoe UI"/>
              </a:rPr>
              <a:t>Upload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331720"/>
            <a:ext cx="336499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Drag in a file, or POST to /api/v1. JPG PNG WebP, MP4 MOV MKV, WAV MP3 FLAC.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035808"/>
            <a:ext cx="5303520" cy="713232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713232" y="3191256"/>
            <a:ext cx="40233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DDDD9"/>
              </a:gs>
              <a:gs pos="100000">
                <a:srgbClr val="4FD1C5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0E042D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3584" y="3145536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FFF6ED"/>
                </a:solidFill>
                <a:latin typeface="Segoe UI"/>
              </a:rPr>
              <a:t>Analyse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136392"/>
            <a:ext cx="336499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Ten models score in parallel; learned fusion reconciles them with calibrated confidence.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840480"/>
            <a:ext cx="5303520" cy="713232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713232" y="3995928"/>
            <a:ext cx="40233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DDDD9"/>
              </a:gs>
              <a:gs pos="100000">
                <a:srgbClr val="4FD1C5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0E042D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3584" y="3950208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FFF6ED"/>
                </a:solidFill>
                <a:latin typeface="Segoe UI"/>
              </a:rPr>
              <a:t>Explain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3941064"/>
            <a:ext cx="336499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Trust Score 0-100, GradCAM heatmap, per-model scores and an EXIF forensics report.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645152"/>
            <a:ext cx="5303520" cy="713232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713232" y="4800600"/>
            <a:ext cx="40233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DDDD9"/>
              </a:gs>
              <a:gs pos="100000">
                <a:srgbClr val="4FD1C5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0E042D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3584" y="4754880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FFF6ED"/>
                </a:solidFill>
                <a:latin typeface="Segoe UI"/>
              </a:rPr>
              <a:t>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4745736"/>
            <a:ext cx="336499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Four-tier verdict, exportable report, and a one-click cybercrime complaint filing in India.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577840"/>
            <a:ext cx="1640433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4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4D9D"/>
                </a:solidFill>
                <a:latin typeface="Segoe UI"/>
              </a:rPr>
              <a:t>LIKELY MANIPULATED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17089" y="5577840"/>
            <a:ext cx="1792224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B020"/>
                </a:solidFill>
                <a:latin typeface="Segoe UI"/>
              </a:rPr>
              <a:t>POSSIBLY MANIPULATED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19041" y="5577840"/>
            <a:ext cx="957376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79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A79EC4"/>
                </a:solidFill>
                <a:latin typeface="Segoe UI"/>
              </a:rPr>
              <a:t>UNCERTAIN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86145" y="5577840"/>
            <a:ext cx="1488643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4FD1C5"/>
                </a:solidFill>
                <a:latin typeface="Segoe UI"/>
              </a:rPr>
              <a:t>LIKELY AUTHENTIC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053328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Four-tier verdict — we say 'uncertain' when we are, rather than forcing a coin-flip.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48590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05 /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What is measured,</a:t>
            </a:r>
            <a:r>
              <a:rPr sz="4000" b="1">
                <a:solidFill>
                  <a:srgbClr val="4FD1C5"/>
                </a:solidFill>
                <a:latin typeface="Segoe UI"/>
              </a:rPr>
              <a:t> and what is not.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Every number below is reproducible from this repository. We label targets as targets.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2286000"/>
          <a:ext cx="11064240" cy="33467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11880"/>
                <a:gridCol w="1417320"/>
                <a:gridCol w="4069080"/>
                <a:gridCol w="196596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A79EC4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79EC4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79EC4"/>
                          </a:solidFill>
                          <a:latin typeface="Segoe UI"/>
                        </a:rPr>
                        <a:t>Measured result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79EC4"/>
                          </a:solidFill>
                          <a:latin typeface="Segoe UI"/>
                        </a:rPr>
                        <a:t>Evidence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CorefakeNet unified image model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Shipped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82.5% acc · 90.9% ROC-AUC · F1 81.3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332 held-out samples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Single-image latency (CPU)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Shipped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564 ms — 4.9x faster than the ensemble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Benchmark run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Video pipeline, end to end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Shipped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Verified at 1/2/10/20 FPS, all 200 OK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docs section 18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Audio deepfake detection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Shipped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Wav2Vec2 backbone — 97.9% on the model card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Upstream benchmark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REST API + React dashboard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Live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10 models loaded, OpenAPI documented, rate-limited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Deployed build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7-model ensemble accuracy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In progress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95%+ target — fusion calibration being corrected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Not yet claimable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Paying customers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Not yet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Zero. Seeking design partners.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Honest baseline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66928" y="5742432"/>
            <a:ext cx="11057839" cy="713232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651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8" y="5925312"/>
            <a:ext cx="1050919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FFF6ED"/>
                </a:solidFill>
                <a:latin typeface="Segoe UI"/>
              </a:rPr>
              <a:t>We are pre-revenue. The ask funds the move from a working, measured prototype to a calibrated product with design partners under contract.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138428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06 /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A $170M market</a:t>
            </a:r>
            <a:r>
              <a:rPr sz="4000" b="1">
                <a:solidFill>
                  <a:srgbClr val="4FD1C5"/>
                </a:solidFill>
                <a:latin typeface="Segoe UI"/>
              </a:rPr>
              <a:t> compounding at 47.6%.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Early, mandated, and accelerating fast.</a:t>
            </a:r>
          </a:p>
        </p:txBody>
      </p:sp>
      <p:pic>
        <p:nvPicPr>
          <p:cNvPr id="10" name="Picture 9" descr="fig_market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339029"/>
            <a:ext cx="5687568" cy="324064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2194560"/>
            <a:ext cx="5120640" cy="115214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6384" y="2340864"/>
            <a:ext cx="4681728" cy="480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4CC9F0"/>
                </a:solidFill>
                <a:latin typeface="Segoe UI"/>
              </a:rPr>
              <a:t>$5.6B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820924"/>
            <a:ext cx="4681728" cy="4160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FFF6ED"/>
                </a:solidFill>
                <a:latin typeface="Segoe UI"/>
              </a:rPr>
              <a:t>Deepfake detection market by 2034
(from $170M in 2025)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38144"/>
            <a:ext cx="5120640" cy="115214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86384" y="3584448"/>
            <a:ext cx="4681728" cy="480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8B6CFF"/>
                </a:solidFill>
                <a:latin typeface="Segoe UI"/>
              </a:rPr>
              <a:t>66.7%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4064508"/>
            <a:ext cx="4681728" cy="4160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FFF6ED"/>
                </a:solidFill>
                <a:latin typeface="Segoe UI"/>
              </a:rPr>
              <a:t>Of the market is video and image
detection — our core strength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81728"/>
            <a:ext cx="5120640" cy="115214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6384" y="4828032"/>
            <a:ext cx="4681728" cy="480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4FD1C5"/>
                </a:solidFill>
                <a:latin typeface="Segoe UI"/>
              </a:rPr>
              <a:t>49.2%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5308092"/>
            <a:ext cx="4681728" cy="4160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FFF6ED"/>
                </a:solidFill>
                <a:latin typeface="Segoe UI"/>
              </a:rPr>
              <a:t>Media and journalism share, with
financial services fastest-growing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961888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A79EC4"/>
                </a:solidFill>
                <a:latin typeface="Segoe UI"/>
              </a:rPr>
              <a:t>Adjacent budget lines we can reach from the same API: digital identity verification (~$18B by 2027) and content moderation (~$12B by 2027).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138428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06 /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TAM, SAM and the</a:t>
            </a:r>
            <a:r>
              <a:rPr sz="4000" b="1">
                <a:solidFill>
                  <a:srgbClr val="4FD1C5"/>
                </a:solidFill>
                <a:latin typeface="Segoe UI"/>
              </a:rPr>
              <a:t> share we are underwriting.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Sized bottom-up from the segments a detection API can actually invoice, not from the whole cybersecurity market.</a:t>
            </a:r>
          </a:p>
        </p:txBody>
      </p:sp>
      <p:pic>
        <p:nvPicPr>
          <p:cNvPr id="10" name="Picture 9" descr="fig_tam_sam_s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24001"/>
            <a:ext cx="6720840" cy="36444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89520" y="224942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B6CFF"/>
                </a:solidFill>
                <a:latin typeface="Segoe UI"/>
              </a:rPr>
              <a:t>WHERE THE FIRST DOLLARS COME FROM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633472"/>
            <a:ext cx="4023360" cy="93268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808976" y="2770632"/>
            <a:ext cx="3584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4FD1C5"/>
                </a:solidFill>
                <a:latin typeface="Segoe UI"/>
              </a:rPr>
              <a:t>Financial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8976" y="3054096"/>
            <a:ext cx="3584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KYC/AML and voice-auth fraud. $0.50-1.50 per verification. Fastest-growing vertical.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3675887"/>
            <a:ext cx="4023360" cy="93268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808976" y="3813047"/>
            <a:ext cx="3584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4FD1C5"/>
                </a:solidFill>
                <a:latin typeface="Segoe UI"/>
              </a:rPr>
              <a:t>Media and newsrooms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8976" y="4096511"/>
            <a:ext cx="3584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Pre-publication verification. Largest current share of the market at ~49%.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4718302"/>
            <a:ext cx="4023360" cy="93268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08976" y="4855462"/>
            <a:ext cx="3584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4FD1C5"/>
                </a:solidFill>
                <a:latin typeface="Segoe UI"/>
              </a:rPr>
              <a:t>Government and legal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08976" y="5138926"/>
            <a:ext cx="3584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Evidence authentication and counter-disinformation. $0.82B defence segment in 2025.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5797296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Comparable: Doppel grew enterprise customers 400% in one year.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572768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07 / 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A funded field —</a:t>
            </a:r>
            <a:r>
              <a:rPr sz="4000" b="1">
                <a:solidFill>
                  <a:srgbClr val="4FD1C5"/>
                </a:solidFill>
                <a:latin typeface="Segoe UI"/>
              </a:rPr>
              <a:t> and a gap in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26 funded companies have raised $259M between them. None of the leaders ship breadth and explainability in the same product.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2267712"/>
          <a:ext cx="10149840" cy="29626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417320"/>
                <a:gridCol w="2148840"/>
                <a:gridCol w="2606040"/>
                <a:gridCol w="160020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A79EC4"/>
                          </a:solidFill>
                          <a:latin typeface="Segoe UI"/>
                        </a:rPr>
                        <a:t>Player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79EC4"/>
                          </a:solidFill>
                          <a:latin typeface="Segoe UI"/>
                        </a:rPr>
                        <a:t>Raised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79EC4"/>
                          </a:solidFill>
                          <a:latin typeface="Segoe UI"/>
                        </a:rPr>
                        <a:t>Modalities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79EC4"/>
                          </a:solidFill>
                          <a:latin typeface="Segoe UI"/>
                        </a:rPr>
                        <a:t>Explainable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79EC4"/>
                          </a:solidFill>
                          <a:latin typeface="Segoe UI"/>
                        </a:rPr>
                        <a:t>Fast mode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Reality Defender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$52.4M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Multi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Doppel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$124M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Social eng.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Real-time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Pindrop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Major VC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Voice only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GetReal Security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$17.5M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Visual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Forensic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Sensity AI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Undisclosed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Visual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Forensic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Intel FakeCatcher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Internal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Video only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Physiological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FD1C5"/>
                          </a:solidFill>
                          <a:latin typeface="Segoe UI"/>
                        </a:rPr>
                        <a:t>ProofyX</a:t>
                      </a:r>
                    </a:p>
                  </a:txBody>
                  <a:tcPr marL="118872" marR="91440" marT="36576" marB="36576" anchor="ctr">
                    <a:solidFill>
                      <a:srgbClr val="1B3B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FD1C5"/>
                          </a:solidFill>
                          <a:latin typeface="Segoe UI"/>
                        </a:rPr>
                        <a:t>Pre-seed</a:t>
                      </a:r>
                    </a:p>
                  </a:txBody>
                  <a:tcPr marL="118872" marR="91440" marT="36576" marB="36576" anchor="ctr">
                    <a:solidFill>
                      <a:srgbClr val="1B3B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FD1C5"/>
                          </a:solidFill>
                          <a:latin typeface="Segoe UI"/>
                        </a:rPr>
                        <a:t>Image+Video+Audio</a:t>
                      </a:r>
                    </a:p>
                  </a:txBody>
                  <a:tcPr marL="118872" marR="91440" marT="36576" marB="36576" anchor="ctr">
                    <a:solidFill>
                      <a:srgbClr val="1B3B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FD1C5"/>
                          </a:solidFill>
                          <a:latin typeface="Segoe UI"/>
                        </a:rPr>
                        <a:t>GradCAM + per-model</a:t>
                      </a:r>
                    </a:p>
                  </a:txBody>
                  <a:tcPr marL="118872" marR="91440" marT="36576" marB="36576" anchor="ctr">
                    <a:solidFill>
                      <a:srgbClr val="1B3B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FD1C5"/>
                          </a:solidFill>
                          <a:latin typeface="Segoe UI"/>
                        </a:rPr>
                        <a:t>Yes (4.9x)</a:t>
                      </a:r>
                    </a:p>
                  </a:txBody>
                  <a:tcPr marL="118872" marR="91440" marT="36576" marB="36576" anchor="ctr">
                    <a:solidFill>
                      <a:srgbClr val="1B3B44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66928" y="5358384"/>
            <a:ext cx="11057839" cy="96926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778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8" y="5522976"/>
            <a:ext cx="105091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1">
                <a:solidFill>
                  <a:srgbClr val="4FD1C5"/>
                </a:solidFill>
                <a:latin typeface="Segoe UI"/>
              </a:rPr>
              <a:t>Our narrow, defensible claim: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>
                <a:solidFill>
                  <a:srgbClr val="FFF6ED"/>
                </a:solidFill>
                <a:latin typeface="Segoe UI"/>
              </a:rPr>
              <a:t>ProofyX is the only stack combining all three modalities, per-model explainability and a fast single-pass mode behind one API — the shape a regulated buyer needs to file a decision, not just make one. We are not claiming the best single-model accuracy; we are claiming the most auditable answer.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833372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08 / BUSINESS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Four ways to charge</a:t>
            </a:r>
            <a:r>
              <a:rPr sz="4000" b="1">
                <a:solidFill>
                  <a:srgbClr val="4FD1C5"/>
                </a:solidFill>
                <a:latin typeface="Segoe UI"/>
              </a:rPr>
              <a:t> for the same API call.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Land through self-serve and the API, expand into enterprise licences. Benchmarked against what this market already pays.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2267712"/>
          <a:ext cx="11055096" cy="2322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2240280"/>
                <a:gridCol w="2788920"/>
                <a:gridCol w="3648456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A79EC4"/>
                          </a:solidFill>
                          <a:latin typeface="Segoe UI"/>
                        </a:rPr>
                        <a:t>Stream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79EC4"/>
                          </a:solidFill>
                          <a:latin typeface="Segoe UI"/>
                        </a:rPr>
                        <a:t>Price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79EC4"/>
                          </a:solidFill>
                          <a:latin typeface="Segoe UI"/>
                        </a:rPr>
                        <a:t>Target customer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79EC4"/>
                          </a:solidFill>
                          <a:latin typeface="Segoe UI"/>
                        </a:rPr>
                        <a:t>Why they buy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API-as-a-service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$0.25-0.50 / analysis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Platforms, integrators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Volume moderation, drop-in call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SaaS subscription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$99-499 / month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Newsrooms, SMBs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Desk-level verification workflow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Per-check KYC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$0.50-1.50 / check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Financial services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Regulatory duty, priced per user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Enterprise licence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$50K-500K / year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Banks, government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On-prem, SLA, audit trail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66928" y="4974336"/>
            <a:ext cx="3539642" cy="106070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6384" y="5120640"/>
            <a:ext cx="31007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4CC9F0"/>
                </a:solidFill>
                <a:latin typeface="Segoe UI"/>
              </a:rPr>
              <a:t>BENCHMARK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5413248"/>
            <a:ext cx="310073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Sightengine charges $99/mo for 40,000 images; deepidv $19/mo + $0.50/check.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6026" y="4974336"/>
            <a:ext cx="3539642" cy="106070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45482" y="5120640"/>
            <a:ext cx="31007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4CC9F0"/>
                </a:solidFill>
                <a:latin typeface="Segoe UI"/>
              </a:rPr>
              <a:t>GROSS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5482" y="5413248"/>
            <a:ext cx="310073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CPU inference today; GPU batch on the roadmap moves unit cost down as volume rises.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5124" y="4974336"/>
            <a:ext cx="3539642" cy="106070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04580" y="5120640"/>
            <a:ext cx="31007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4CC9F0"/>
                </a:solidFill>
                <a:latin typeface="Segoe UI"/>
              </a:rPr>
              <a:t>EXPANSION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4580" y="5413248"/>
            <a:ext cx="310073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Same API serves moderation, KYC and evidence — one integration, three budget lines.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48590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09 / FINANCIALS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Five-year path</a:t>
            </a:r>
            <a:r>
              <a:rPr sz="4000" b="1">
                <a:solidFill>
                  <a:srgbClr val="4FD1C5"/>
                </a:solidFill>
                <a:latin typeface="Segoe UI"/>
              </a:rPr>
              <a:t> to $100-200M ARR.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Conservative and target cases. Pre-revenue today — these are projections, and the assumptions are listed opposite.</a:t>
            </a:r>
          </a:p>
        </p:txBody>
      </p:sp>
      <p:pic>
        <p:nvPicPr>
          <p:cNvPr id="10" name="Picture 9" descr="fig_revenue_proj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27486"/>
            <a:ext cx="6446520" cy="346372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60920" y="2231136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B6CFF"/>
                </a:solidFill>
                <a:latin typeface="Segoe UI"/>
              </a:rPr>
              <a:t>ASSUMPTIONS BEHIND THE CURVE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2615184"/>
            <a:ext cx="4251960" cy="78638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562088" y="2734056"/>
            <a:ext cx="38496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4FD1C5"/>
                </a:solidFill>
                <a:latin typeface="Segoe UI"/>
              </a:rPr>
              <a:t>Year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2980944"/>
            <a:ext cx="38496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3-6 design partners at $50-150K. No self-serve revenue assumed.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3493008"/>
            <a:ext cx="4251960" cy="78638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62088" y="3611880"/>
            <a:ext cx="38496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4FD1C5"/>
                </a:solidFill>
                <a:latin typeface="Segoe UI"/>
              </a:rPr>
              <a:t>Year 2-3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2088" y="3858768"/>
            <a:ext cx="38496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Self-serve API opens; enterprise ACV rises as the EU AI Act deadline bites.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4370832"/>
            <a:ext cx="4251960" cy="78638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62088" y="4489704"/>
            <a:ext cx="38496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4FD1C5"/>
                </a:solidFill>
                <a:latin typeface="Segoe UI"/>
              </a:rPr>
              <a:t>Year 4-5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2088" y="4736592"/>
            <a:ext cx="38496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2-4% of a $5-8B SAM. Requires GPU inference and a compliance-certified deployment.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5248656"/>
            <a:ext cx="4251960" cy="78638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62088" y="5367528"/>
            <a:ext cx="38496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4FD1C5"/>
                </a:solidFill>
                <a:latin typeface="Segoe UI"/>
              </a:rPr>
              <a:t>Cost 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5614416"/>
            <a:ext cx="38496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Team and compute dominate; inference cost per call falls with batch GPU.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964692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10 /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Builders who already</a:t>
            </a:r>
            <a:r>
              <a:rPr sz="4000" b="1">
                <a:solidFill>
                  <a:srgbClr val="4FD1C5"/>
                </a:solidFill>
                <a:latin typeface="Segoe UI"/>
              </a:rPr>
              <a:t> shipped the hard part.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Ten models, three modalities and a live API — built by this team before raising a rupee.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86000"/>
            <a:ext cx="3503066" cy="25603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22960" y="2487168"/>
            <a:ext cx="548640" cy="54864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82D59"/>
              </a:gs>
              <a:gs pos="100000">
                <a:srgbClr val="2A2145"/>
              </a:gs>
            </a:gsLst>
            <a:lin scaled="0" ang="5400000"/>
          </a:gradFill>
          <a:ln w="1397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4CC9F0"/>
                </a:solidFill>
                <a:latin typeface="Segoe UI"/>
              </a:rPr>
              <a:t>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299100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6ED"/>
                </a:solidFill>
                <a:latin typeface="Segoe UI"/>
              </a:rPr>
              <a:t>Muhammed Sayeedur Rahman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75887"/>
            <a:ext cx="299100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4FD1C5"/>
                </a:solidFill>
                <a:latin typeface="Segoe UI"/>
              </a:rPr>
              <a:t>Founder / ML &amp;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68496"/>
            <a:ext cx="2991002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Owns the detection stack and API: model training, fusion calibration, FastAPI backend and the compliance/traceability layer.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4314" y="2286000"/>
            <a:ext cx="3503066" cy="25603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600346" y="2487168"/>
            <a:ext cx="548640" cy="54864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82D59"/>
              </a:gs>
              <a:gs pos="100000">
                <a:srgbClr val="2A2145"/>
              </a:gs>
            </a:gsLst>
            <a:lin scaled="0" ang="5400000"/>
          </a:gradFill>
          <a:ln w="1397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4CC9F0"/>
                </a:solidFill>
                <a:latin typeface="Segoe UI"/>
              </a:rPr>
              <a:t>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0346" y="3108960"/>
            <a:ext cx="299100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6ED"/>
                </a:solidFill>
                <a:latin typeface="Segoe UI"/>
              </a:rPr>
              <a:t>Mohamed Abrar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0346" y="3675887"/>
            <a:ext cx="299100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4FD1C5"/>
                </a:solidFill>
                <a:latin typeface="Segoe UI"/>
              </a:rPr>
              <a:t>Co-founder / Product &amp; 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0346" y="3968496"/>
            <a:ext cx="2991002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Largest contributor by commit count. Owns the React dashboard, the analysis workflows and the deployment pipeline.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1700" y="2286000"/>
            <a:ext cx="3503066" cy="25603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377732" y="2487168"/>
            <a:ext cx="548640" cy="54864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82D59"/>
              </a:gs>
              <a:gs pos="100000">
                <a:srgbClr val="2A2145"/>
              </a:gs>
            </a:gsLst>
            <a:lin scaled="0" ang="5400000"/>
          </a:gradFill>
          <a:ln w="1397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4CC9F0"/>
                </a:solidFill>
                <a:latin typeface="Segoe UI"/>
              </a:rPr>
              <a:t>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7732" y="3108960"/>
            <a:ext cx="299100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6ED"/>
                </a:solidFill>
                <a:latin typeface="Segoe UI"/>
              </a:rPr>
              <a:t>Mohamed Shahid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7732" y="3675887"/>
            <a:ext cx="299100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4FD1C5"/>
                </a:solidFill>
                <a:latin typeface="Segoe UI"/>
              </a:rPr>
              <a:t>Co-founder / Infrastructure &amp; QA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7732" y="3968496"/>
            <a:ext cx="2991002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Owns CI/CD, containerisation, security scanning and the test suite across the backend.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956048"/>
            <a:ext cx="11057839" cy="106070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651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8" y="5120640"/>
            <a:ext cx="1050919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200" b="1">
                <a:solidFill>
                  <a:srgbClr val="FFB020"/>
                </a:solidFill>
                <a:latin typeface="Segoe UI"/>
              </a:rPr>
              <a:t>What we are missing, and are hiring for</a:t>
            </a:r>
          </a:p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100" b="0">
                <a:solidFill>
                  <a:srgbClr val="FFF6ED"/>
                </a:solidFill>
                <a:latin typeface="Segoe UI"/>
              </a:rPr>
              <a:t>A commercial lead with enterprise security or regtech sales experience, and a senior advisor from media forensics or financial-crime compliance. Both are line items in the ask.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225296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11 / THE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Raising</a:t>
            </a:r>
            <a:r>
              <a:rPr sz="4000" b="1">
                <a:solidFill>
                  <a:srgbClr val="4FD1C5"/>
                </a:solidFill>
                <a:latin typeface="Segoe UI"/>
              </a:rPr>
              <a:t> $1.5M-$2.5M seed.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18-24 months of runway to reach calibrated accuracy, paying design partners and an EU AI Act-ready deployment.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67712"/>
            <a:ext cx="2599867" cy="188366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2432304"/>
            <a:ext cx="21609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4FD1C5"/>
                </a:solidFill>
                <a:latin typeface="Segoe UI"/>
              </a:rP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962656"/>
            <a:ext cx="21609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6ED"/>
                </a:solidFill>
                <a:latin typeface="Segoe UI"/>
              </a:rPr>
              <a:t>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273552"/>
            <a:ext cx="21609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Two ML engineers and one platform engineer. Fix fusion calibration, ship GPU inference.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6251" y="2267712"/>
            <a:ext cx="2599867" cy="188366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05707" y="2432304"/>
            <a:ext cx="21609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4CC9F0"/>
                </a:solidFill>
                <a:latin typeface="Segoe UI"/>
              </a:rP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5707" y="2962656"/>
            <a:ext cx="21609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6ED"/>
                </a:solidFill>
                <a:latin typeface="Segoe UI"/>
              </a:rPr>
              <a:t>Go-to-market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5707" y="3273552"/>
            <a:ext cx="21609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Commercial lead plus design-partner pilots in financial services and media.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5575" y="2267712"/>
            <a:ext cx="2599867" cy="188366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25031" y="2432304"/>
            <a:ext cx="21609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8B6CFF"/>
                </a:solidFill>
                <a:latin typeface="Segoe UI"/>
              </a:rP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5031" y="2962656"/>
            <a:ext cx="21609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6ED"/>
                </a:solidFill>
                <a:latin typeface="Segoe UI"/>
              </a:rPr>
              <a:t>Compute &amp;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5031" y="3273552"/>
            <a:ext cx="21609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GPU training and inference, licensed evaluation datasets, red-team generation.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24899" y="2267712"/>
            <a:ext cx="2599867" cy="188366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244355" y="2432304"/>
            <a:ext cx="21609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B020"/>
                </a:solidFill>
                <a:latin typeface="Segoe UI"/>
              </a:rPr>
              <a:t>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355" y="2962656"/>
            <a:ext cx="21609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6ED"/>
                </a:solidFill>
                <a:latin typeface="Segoe UI"/>
              </a:rPr>
              <a:t>Compliance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4355" y="3273552"/>
            <a:ext cx="21609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Security certification, audit trail and the evidence pack regulated buyers require.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370832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B6CFF"/>
                </a:solidFill>
                <a:latin typeface="Segoe UI"/>
              </a:rPr>
              <a:t>WHAT THE MONEY BUYS — MILESTONES WE WILL BE JUDGED 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754880"/>
            <a:ext cx="3539642" cy="111556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6384" y="4901184"/>
            <a:ext cx="31007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4FD1C5"/>
                </a:solidFill>
                <a:latin typeface="Segoe UI"/>
              </a:rPr>
              <a:t>Month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212080"/>
            <a:ext cx="310073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Ensemble calibration fixed; published accuracy on a public benchmark, third-party reproducible.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26026" y="4754880"/>
            <a:ext cx="3539642" cy="111556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45482" y="4901184"/>
            <a:ext cx="31007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4FD1C5"/>
                </a:solidFill>
                <a:latin typeface="Segoe UI"/>
              </a:rPr>
              <a:t>Month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5482" y="5212080"/>
            <a:ext cx="310073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3-6 design partners live under paid pilots; first enterprise contract signed.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85124" y="4754880"/>
            <a:ext cx="3539642" cy="111556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304580" y="4901184"/>
            <a:ext cx="31007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4FD1C5"/>
                </a:solidFill>
                <a:latin typeface="Segoe UI"/>
              </a:rPr>
              <a:t>Month 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4580" y="5212080"/>
            <a:ext cx="310073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EU AI Act-ready deployment, SOC 2 in progress, GPU inference cutting unit cost.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016752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FFF6ED"/>
                </a:solidFill>
                <a:latin typeface="Segoe UI"/>
              </a:rPr>
              <a:t>Instrument: priced seed or SAFE. Valuation open — we would rather find the right partner than the highest cap.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1071154" cy="1005840"/>
          </a:xfrm>
          <a:prstGeom prst="rect">
            <a:avLst/>
          </a:prstGeom>
        </p:spPr>
      </p:pic>
      <p:pic>
        <p:nvPicPr>
          <p:cNvPr id="6" name="Picture 5" descr="pr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703320"/>
            <a:ext cx="5577840" cy="25280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1755648"/>
            <a:ext cx="6309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>
                <a:solidFill>
                  <a:srgbClr val="FFF6ED"/>
                </a:solidFill>
                <a:latin typeface="Segoe UI"/>
              </a:rPr>
              <a:t>Let's make digital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>
                <a:solidFill>
                  <a:srgbClr val="4FD1C5"/>
                </a:solidFill>
                <a:latin typeface="Segoe UI"/>
              </a:rPr>
              <a:t>evidence provable again.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962656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FF6ED"/>
                </a:solidFill>
                <a:latin typeface="Segoe UI"/>
              </a:rPr>
              <a:t>We are looking for a lead investor and three design partners in financial services or media. A live demo takes ten minutes.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04164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8B6CFF"/>
                </a:solidFill>
                <a:latin typeface="Segoe UI"/>
              </a:rP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65376" y="4005072"/>
            <a:ext cx="4892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FFF6ED"/>
                </a:solidFill>
                <a:latin typeface="Segoe UI"/>
              </a:rPr>
              <a:t>REPLACE-WITH-REAL@EMAIL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5445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8B6CFF"/>
                </a:solidFill>
                <a:latin typeface="Segoe UI"/>
              </a:rPr>
              <a:t>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65376" y="4507992"/>
            <a:ext cx="4892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FFF6ED"/>
                </a:solidFill>
                <a:latin typeface="Segoe UI"/>
              </a:rPr>
              <a:t>github.com/muhammedsayeedurrahman/ai-authenticity-checker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0474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8B6CFF"/>
                </a:solidFill>
                <a:latin typeface="Segoe UI"/>
              </a:rPr>
              <a:t>PHONE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5376" y="5010912"/>
            <a:ext cx="4892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FFF6ED"/>
                </a:solidFill>
                <a:latin typeface="Segoe UI"/>
              </a:rPr>
              <a:t>REPLACE-WITH-REAL-NUMBER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6053328"/>
            <a:ext cx="1874519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>
                <a:solidFill>
                  <a:srgbClr val="FFF6ED"/>
                </a:solidFill>
                <a:latin typeface="Segoe UI"/>
              </a:rPr>
              <a:t>Investor Pitch Deck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746504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APPENDIX /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FFF6ED"/>
                </a:solidFill>
                <a:latin typeface="Segoe UI"/>
              </a:rPr>
              <a:t>Every number</a:t>
            </a:r>
            <a:r>
              <a:rPr sz="3400" b="1">
                <a:solidFill>
                  <a:srgbClr val="4FD1C5"/>
                </a:solidFill>
                <a:latin typeface="Segoe UI"/>
              </a:rPr>
              <a:t> has a source.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3560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0934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A79EC4"/>
                </a:solidFill>
                <a:latin typeface="Segoe UI"/>
              </a:rPr>
              <a:t>Full research file: docs/PROOFYX_COMPLETE_ANALYSIS.md in the repository.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103120"/>
            <a:ext cx="2586151" cy="27889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FF4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8096" y="2267712"/>
            <a:ext cx="2183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4D9D"/>
                </a:solidFill>
                <a:latin typeface="Segoe UI"/>
              </a:rPr>
              <a:t>THREAT STATISTICS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33472"/>
            <a:ext cx="21838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8M deepfake files by end-2025 — Bright Defense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$893M AI-fraud losses, 22,364 cases — FBI IC3 2025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$280K average incident — IRONSCALES, Fall 2025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60% confident, 0.1% perfect — iProov, Feb 2025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0823" y="2103120"/>
            <a:ext cx="2586151" cy="27889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91991" y="2267712"/>
            <a:ext cx="2183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CC9F0"/>
                </a:solidFill>
                <a:latin typeface="Segoe UI"/>
              </a:rPr>
              <a:t>MARKET SIZING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1991" y="2633472"/>
            <a:ext cx="21838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$170M to $5.6B, 47.6% CAGR — Market.us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Deepfake AI market — Mordor Intelligence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$15.1B by 2035 — OpenPR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Defence $0.82B — MarketsandMarkets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4719" y="2103120"/>
            <a:ext cx="2586151" cy="27889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15887" y="2267712"/>
            <a:ext cx="2183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B6CFF"/>
                </a:solidFill>
                <a:latin typeface="Segoe UI"/>
              </a:rPr>
              <a:t>REGULATION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2633472"/>
            <a:ext cx="21838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EU AI Act Art. 50 / 99 — Blackbird.AI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TAKE IT DOWN Act — Stack Cyber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DoD investment — MIT Tech Review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India IT Rules 2026 — docs/COMPLIANCE.md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38615" y="2103120"/>
            <a:ext cx="2586151" cy="27889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39783" y="2267712"/>
            <a:ext cx="2183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FD1C5"/>
                </a:solidFill>
                <a:latin typeface="Segoe UI"/>
              </a:rPr>
              <a:t>COMPETITION AND FUNDING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783" y="2633472"/>
            <a:ext cx="21838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$259M across 26 companies — Tracxn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Doppel $70M Series C — Fortune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Reality Defender $33M — SecurityWeek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GetReal $17.5M — TechCrunch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138928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A79EC4"/>
                </a:solidFill>
                <a:latin typeface="Segoe UI"/>
              </a:rPr>
              <a:t>Every chart is regenerated by scripts/make_pitch_figures.py. ProofyX accuracy and latency figures come from the CorefakeNet evaluation run on 332 held-out samples; the eval harness is in the repository and the run is repeatable on request.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